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4953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75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SCBG供开部｜</a:t>
            </a:r>
            <a:r>
              <a:rPr lang="zh-CN" sz="1275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英超读书</a:t>
            </a:r>
            <a:r>
              <a:rPr sz="1275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</a:t>
            </a:r>
            <a:endParaRPr sz="1275" b="1">
              <a:solidFill>
                <a:srgbClr val="2D6F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428750"/>
            <a:ext cx="5238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39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不想天天催货，</a:t>
            </a:r>
            <a:endParaRPr sz="3900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39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先把需求想明白</a:t>
            </a:r>
            <a:endParaRPr sz="3900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3505200"/>
            <a:ext cx="5095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《供应链的三道防线》P1–P21读后感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286250"/>
            <a:ext cx="4953000" cy="1605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3273" lnSpcReduction="20000"/>
          </a:bodyPr>
          <a:lstStyle/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这21页，我主要想聊三个问题：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1、跟供开工作有什么关系？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2、大促、爆款、长尾SKU怎么备？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3、供应商开发前，哪些需求要先问清楚？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8280" y="514350"/>
            <a:ext cx="3409440" cy="5429250"/>
          </a:xfrm>
          <a:prstGeom prst="roundRect">
            <a:avLst>
              <a:gd name="adj" fmla="val 2791"/>
            </a:avLst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71500" y="62642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2026.08.06</a:t>
            </a:r>
            <a:endParaRPr sz="1200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2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这21页最戳我的：别总靠催货解决问题</a:t>
            </a:r>
            <a:endParaRPr sz="28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ccent-2"/>
          <p:cNvSpPr>
            <a:spLocks noGrp="1"/>
          </p:cNvSpPr>
          <p:nvPr/>
        </p:nvSpPr>
        <p:spPr>
          <a:xfrm>
            <a:off x="495300" y="1352550"/>
            <a:ext cx="742950" cy="47625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</p:sp>
      <p:sp>
        <p:nvSpPr>
          <p:cNvPr id="4" name="page-2"/>
          <p:cNvSpPr>
            <a:spLocks noGrp="1"/>
          </p:cNvSpPr>
          <p:nvPr/>
        </p:nvSpPr>
        <p:spPr>
          <a:xfrm>
            <a:off x="1123950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8097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725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我们平时怎么干</a:t>
            </a:r>
            <a:endParaRPr sz="1725" b="1">
              <a:solidFill>
                <a:srgbClr val="C75B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286000"/>
            <a:ext cx="428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缺货就催工厂，延期就追交期，</a:t>
            </a:r>
            <a:endParaRPr sz="20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滞销再找供应商降价、退货。</a:t>
            </a:r>
            <a:endParaRPr sz="20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72250" y="18097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725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读完后的反思</a:t>
            </a:r>
            <a:endParaRPr sz="1725" b="1">
              <a:solidFill>
                <a:srgbClr val="2A8C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72250" y="2286000"/>
            <a:ext cx="476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选品、活动量、首单量、补货节奏没想清楚，</a:t>
            </a:r>
            <a:endParaRPr sz="20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SCBG</a:t>
            </a:r>
            <a:r>
              <a: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再努力也只是救火。</a:t>
            </a:r>
            <a:endParaRPr sz="20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90550" y="4095750"/>
            <a:ext cx="10668000" cy="1854200"/>
          </a:xfrm>
          <a:prstGeom prst="roundRect">
            <a:avLst>
              <a:gd name="adj" fmla="val 9524"/>
            </a:avLst>
          </a:prstGeom>
          <a:solidFill>
            <a:srgbClr val="F8EEDB"/>
          </a:solidFill>
          <a:ln w="9525">
            <a:solidFill>
              <a:srgbClr val="E6A23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4286250"/>
            <a:ext cx="10096500" cy="15265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lnSpcReduction="20000"/>
          </a:bodyPr>
          <a:lstStyle/>
          <a:p>
            <a:pPr algn="l">
              <a:buNone/>
              <a:defRPr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供开经理不只是找供应商、谈价格，还要把业务需求翻译成供应能力。</a:t>
            </a:r>
            <a:endParaRPr sz="2175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175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供应能力怎么评定？</a:t>
            </a:r>
            <a:endParaRPr lang="en-US" altLang="zh-CN" sz="2175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有制定考评标准吗？</a:t>
            </a:r>
            <a:endParaRPr lang="zh-CN" sz="2175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sz="21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供方实地考察时这项能力占比了多少？</a:t>
            </a:r>
            <a:endParaRPr lang="zh-CN" sz="2175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3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放到我们的业务里，三道防线就是这么用</a:t>
            </a:r>
            <a:endParaRPr sz="28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ccent-3"/>
          <p:cNvSpPr>
            <a:spLocks noGrp="1"/>
          </p:cNvSpPr>
          <p:nvPr/>
        </p:nvSpPr>
        <p:spPr>
          <a:xfrm>
            <a:off x="495300" y="1352550"/>
            <a:ext cx="742950" cy="47625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</p:sp>
      <p:sp>
        <p:nvSpPr>
          <p:cNvPr id="4" name="page-3"/>
          <p:cNvSpPr>
            <a:spLocks noGrp="1"/>
          </p:cNvSpPr>
          <p:nvPr/>
        </p:nvSpPr>
        <p:spPr>
          <a:xfrm>
            <a:off x="1123950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476625" y="3190875"/>
            <a:ext cx="857250" cy="171450"/>
          </a:xfrm>
          <a:prstGeom prst="rect">
            <a:avLst/>
          </a:prstGeom>
          <a:solidFill>
            <a:srgbClr val="D8DEE5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58125" y="3190875"/>
            <a:ext cx="857250" cy="171450"/>
          </a:xfrm>
          <a:prstGeom prst="rect">
            <a:avLst/>
          </a:prstGeom>
          <a:solidFill>
            <a:srgbClr val="D8DEE5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90550" y="2095500"/>
            <a:ext cx="3143250" cy="2714625"/>
          </a:xfrm>
          <a:prstGeom prst="roundRect">
            <a:avLst>
              <a:gd name="adj" fmla="val 4211"/>
            </a:avLst>
          </a:prstGeom>
          <a:solidFill>
            <a:srgbClr val="EAF2F8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2219960"/>
            <a:ext cx="2724150" cy="7575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2970"/>
          </a:bodyPr>
          <a:lstStyle/>
          <a:p>
            <a:pPr algn="ctr">
              <a:lnSpc>
                <a:spcPct val="150000"/>
              </a:lnSpc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第一道堤坝｜先把量想清楚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000375"/>
            <a:ext cx="2571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看日销、活动力度、平台资源、新品爬坡</a:t>
            </a:r>
            <a:endParaRPr sz="1650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40957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别把目标直接当需求</a:t>
            </a:r>
            <a:endParaRPr sz="1800" b="1">
              <a:solidFill>
                <a:srgbClr val="2D6F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95800" y="2095500"/>
            <a:ext cx="3143250" cy="2714625"/>
          </a:xfrm>
          <a:prstGeom prst="roundRect">
            <a:avLst>
              <a:gd name="adj" fmla="val 4211"/>
            </a:avLst>
          </a:prstGeom>
          <a:solidFill>
            <a:srgbClr val="F8EEDB"/>
          </a:solidFill>
          <a:ln w="9525">
            <a:solidFill>
              <a:srgbClr val="E6A23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705350" y="2142490"/>
            <a:ext cx="2724150" cy="9188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40000"/>
              </a:lnSpc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第二道堤坝｜库存留余量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81550" y="3000375"/>
            <a:ext cx="2571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首单别一次打满</a:t>
            </a:r>
            <a:endParaRPr sz="1650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关键原料、半成品留缓冲</a:t>
            </a:r>
            <a:endParaRPr sz="1650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81550" y="40957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A6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A6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库存也要算成本</a:t>
            </a:r>
            <a:endParaRPr sz="1800" b="1">
              <a:solidFill>
                <a:srgbClr val="A66A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401050" y="2095500"/>
            <a:ext cx="3143250" cy="2714625"/>
          </a:xfrm>
          <a:prstGeom prst="roundRect">
            <a:avLst>
              <a:gd name="adj" fmla="val 4211"/>
            </a:avLst>
          </a:prstGeom>
          <a:solidFill>
            <a:srgbClr val="F6E8E5"/>
          </a:solidFill>
          <a:ln w="9525">
            <a:solidFill>
              <a:srgbClr val="C75B4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610600" y="2271395"/>
            <a:ext cx="2868930" cy="842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50000"/>
              </a:lnSpc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第三道堤坝｜供应商补位</a:t>
            </a:r>
            <a:endParaRPr sz="19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86800" y="3000375"/>
            <a:ext cx="2571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插单、加班、分批交</a:t>
            </a:r>
            <a:endParaRPr sz="1650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必要时跨仓调拨</a:t>
            </a:r>
            <a:endParaRPr sz="1650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86800" y="40957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能用，但代价高</a:t>
            </a:r>
            <a:endParaRPr sz="1800" b="1">
              <a:solidFill>
                <a:srgbClr val="C75B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53816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第三道防线不能天天用：供应商长期插单，成本、质量和交期都会出问题。</a:t>
            </a:r>
            <a:endParaRPr sz="1800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4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平台给了活动目标，不等于消费者一定会买</a:t>
            </a:r>
            <a:endParaRPr sz="28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ccent-4"/>
          <p:cNvSpPr>
            <a:spLocks noGrp="1"/>
          </p:cNvSpPr>
          <p:nvPr/>
        </p:nvSpPr>
        <p:spPr>
          <a:xfrm>
            <a:off x="495300" y="1352550"/>
            <a:ext cx="742950" cy="47625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</p:sp>
      <p:sp>
        <p:nvSpPr>
          <p:cNvPr id="4" name="page-4"/>
          <p:cNvSpPr>
            <a:spLocks noGrp="1"/>
          </p:cNvSpPr>
          <p:nvPr/>
        </p:nvSpPr>
        <p:spPr>
          <a:xfrm>
            <a:off x="1123950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52450" y="1809750"/>
            <a:ext cx="5048250" cy="3143250"/>
          </a:xfrm>
          <a:prstGeom prst="roundRect">
            <a:avLst>
              <a:gd name="adj" fmla="val 3636"/>
            </a:avLst>
          </a:prstGeom>
          <a:solidFill>
            <a:srgbClr val="EAF2F8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19150" y="20764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业务端会告诉我们</a:t>
            </a:r>
            <a:endParaRPr sz="1875" b="1">
              <a:solidFill>
                <a:srgbClr val="2D6F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19150" y="2667000"/>
            <a:ext cx="43434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618、双11要冲多少销售额</a:t>
            </a:r>
            <a:endParaRPr sz="17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平台给了多少流量和活动资源</a:t>
            </a:r>
            <a:endParaRPr sz="17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直播、达人预计能带多少单</a:t>
            </a:r>
            <a:endParaRPr sz="17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00750" y="1809750"/>
            <a:ext cx="5638800" cy="3143250"/>
          </a:xfrm>
          <a:prstGeom prst="roundRect">
            <a:avLst>
              <a:gd name="adj" fmla="val 3636"/>
            </a:avLst>
          </a:prstGeom>
          <a:solidFill>
            <a:srgbClr val="E6F3F0"/>
          </a:solidFill>
          <a:ln w="9525">
            <a:solidFill>
              <a:srgbClr val="2A8C8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286500" y="20764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875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SCBG</a:t>
            </a:r>
            <a:r>
              <a:rPr sz="1875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还要继续问</a:t>
            </a:r>
            <a:endParaRPr sz="1875" b="1">
              <a:solidFill>
                <a:srgbClr val="2A8C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286500" y="2667000"/>
            <a:ext cx="4953000" cy="206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同类商品以前卖多少？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折扣和转化率会变多少？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供应商交期、MOQ能不能跟上？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没卖完的库存怎么处理？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5429250"/>
            <a:ext cx="9477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目标可以冲，备货要有依据；说不清假设，就别把量一次性压给供应商。</a:t>
            </a:r>
            <a:endParaRPr sz="2100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5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一个家居爆款和一个玩具新品，备货逻辑不能一样</a:t>
            </a:r>
            <a:endParaRPr sz="28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ccent-5"/>
          <p:cNvSpPr>
            <a:spLocks noGrp="1"/>
          </p:cNvSpPr>
          <p:nvPr/>
        </p:nvSpPr>
        <p:spPr>
          <a:xfrm>
            <a:off x="495300" y="1352550"/>
            <a:ext cx="742950" cy="47625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</p:sp>
      <p:sp>
        <p:nvSpPr>
          <p:cNvPr id="4" name="page-5"/>
          <p:cNvSpPr>
            <a:spLocks noGrp="1"/>
          </p:cNvSpPr>
          <p:nvPr/>
        </p:nvSpPr>
        <p:spPr>
          <a:xfrm>
            <a:off x="1123950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18097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家居百货爆款</a:t>
            </a:r>
            <a:endParaRPr sz="2100" b="1">
              <a:solidFill>
                <a:srgbClr val="C75B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3050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70000"/>
          </a:bodyPr>
          <a:lstStyle/>
          <a:p>
            <a:pPr algn="ctr">
              <a:buNone/>
              <a:defRPr sz="172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SKU多，</a:t>
            </a:r>
            <a:r>
              <a:rPr lang="zh-CN" sz="172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市场现货，</a:t>
            </a:r>
            <a:r>
              <a:rPr sz="172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补货相对灵活</a:t>
            </a:r>
            <a:endParaRPr sz="172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47700" y="3000375"/>
            <a:ext cx="3238500" cy="1504950"/>
          </a:xfrm>
          <a:prstGeom prst="roundRect">
            <a:avLst>
              <a:gd name="adj" fmla="val 7595"/>
            </a:avLst>
          </a:prstGeom>
          <a:solidFill>
            <a:srgbClr val="F6E8E5"/>
          </a:solidFill>
          <a:ln w="9525">
            <a:solidFill>
              <a:srgbClr val="C75B4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3190875"/>
            <a:ext cx="2667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先看13周日销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活动增量单独算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首单保守、滚动补货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0" y="3143250"/>
            <a:ext cx="104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4350" b="1">
                <a:solidFill>
                  <a:srgbClr val="E6A2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E6A2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</a:t>
            </a:r>
            <a:endParaRPr sz="4350" b="1">
              <a:solidFill>
                <a:srgbClr val="E6A2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62750" y="18097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儿童玩具新品</a:t>
            </a:r>
            <a:endParaRPr sz="2100" b="1">
              <a:solidFill>
                <a:srgbClr val="2A8C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762750" y="23050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新品风险高，准备周期长</a:t>
            </a:r>
            <a:endParaRPr sz="172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362700" y="3000375"/>
            <a:ext cx="3238500" cy="1504950"/>
          </a:xfrm>
          <a:prstGeom prst="roundRect">
            <a:avLst>
              <a:gd name="adj" fmla="val 7595"/>
            </a:avLst>
          </a:prstGeom>
          <a:solidFill>
            <a:srgbClr val="E6F3F0"/>
          </a:solidFill>
          <a:ln w="9525">
            <a:solidFill>
              <a:srgbClr val="2A8C8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648450" y="3190875"/>
            <a:ext cx="2667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看节庆、内容/IP热度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认证、模具、包材要前置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先锁关键产能，小步追单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62000" y="5238750"/>
            <a:ext cx="10477500" cy="666750"/>
          </a:xfrm>
          <a:prstGeom prst="roundRect">
            <a:avLst>
              <a:gd name="adj" fmla="val 17143"/>
            </a:avLst>
          </a:prstGeom>
          <a:solidFill>
            <a:srgbClr val="183B63"/>
          </a:solidFill>
          <a:ln w="9525">
            <a:solidFill>
              <a:srgbClr val="183B6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5343525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如果都按销售目标一次性备货，很容易一边缺货、一边积压。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6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供开拿到需求后，我会先把4件事问明白</a:t>
            </a:r>
            <a:endParaRPr sz="28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ccent-6"/>
          <p:cNvSpPr>
            <a:spLocks noGrp="1"/>
          </p:cNvSpPr>
          <p:nvPr/>
        </p:nvSpPr>
        <p:spPr>
          <a:xfrm>
            <a:off x="495300" y="1352550"/>
            <a:ext cx="742950" cy="47625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</p:sp>
      <p:sp>
        <p:nvSpPr>
          <p:cNvPr id="4" name="page-6"/>
          <p:cNvSpPr>
            <a:spLocks noGrp="1"/>
          </p:cNvSpPr>
          <p:nvPr/>
        </p:nvSpPr>
        <p:spPr>
          <a:xfrm>
            <a:off x="1123950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2047875"/>
            <a:ext cx="2524125" cy="2857500"/>
          </a:xfrm>
          <a:prstGeom prst="roundRect">
            <a:avLst>
              <a:gd name="adj" fmla="val 4528"/>
            </a:avLst>
          </a:prstGeom>
          <a:solidFill>
            <a:srgbClr val="EAF2F8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247900"/>
            <a:ext cx="647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700" b="1">
              <a:solidFill>
                <a:srgbClr val="2D6F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952750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卖什么</a:t>
            </a:r>
            <a:endParaRPr sz="20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3571875"/>
            <a:ext cx="2047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SKU、版本、包装、认证要求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467100" y="2047875"/>
            <a:ext cx="2524125" cy="2857500"/>
          </a:xfrm>
          <a:prstGeom prst="roundRect">
            <a:avLst>
              <a:gd name="adj" fmla="val 4528"/>
            </a:avLst>
          </a:prstGeom>
          <a:solidFill>
            <a:srgbClr val="E6F3F0"/>
          </a:solidFill>
          <a:ln w="9525">
            <a:solidFill>
              <a:srgbClr val="2A8C8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95700" y="2247900"/>
            <a:ext cx="647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700" b="1">
              <a:solidFill>
                <a:srgbClr val="2A8C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95700" y="2952750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卖多少</a:t>
            </a:r>
            <a:endParaRPr sz="20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95700" y="3571875"/>
            <a:ext cx="2047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日销、活动增量、首单和补单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324600" y="2047875"/>
            <a:ext cx="2524125" cy="2857500"/>
          </a:xfrm>
          <a:prstGeom prst="roundRect">
            <a:avLst>
              <a:gd name="adj" fmla="val 4528"/>
            </a:avLst>
          </a:prstGeom>
          <a:solidFill>
            <a:srgbClr val="EAF2F8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553200" y="2247900"/>
            <a:ext cx="647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700" b="1">
              <a:solidFill>
                <a:srgbClr val="2D6F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53200" y="2952750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什么时候要</a:t>
            </a:r>
            <a:endParaRPr sz="20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53200" y="3571875"/>
            <a:ext cx="2047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上线日、入仓日、能否分批交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182100" y="2047875"/>
            <a:ext cx="2524125" cy="2857500"/>
          </a:xfrm>
          <a:prstGeom prst="roundRect">
            <a:avLst>
              <a:gd name="adj" fmla="val 4528"/>
            </a:avLst>
          </a:prstGeom>
          <a:solidFill>
            <a:srgbClr val="E6F3F0"/>
          </a:solidFill>
          <a:ln w="9525">
            <a:solidFill>
              <a:srgbClr val="2A8C8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410700" y="2247900"/>
            <a:ext cx="647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700" b="1">
              <a:solidFill>
                <a:srgbClr val="2A8C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410700" y="2952750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错了怎么办</a:t>
            </a:r>
            <a:endParaRPr sz="20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410700" y="3571875"/>
            <a:ext cx="2047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滞销谁承担，缺货怎么补，供应商有多少弹性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38250" y="5381625"/>
            <a:ext cx="971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需求讲不清，供应商的报价、交期和产能承诺都不靠谱。</a:t>
            </a:r>
            <a:endParaRPr sz="1950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7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SKU这么多，不能每个单品都用同样的力气</a:t>
            </a:r>
            <a:endParaRPr sz="28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ccent-7"/>
          <p:cNvSpPr>
            <a:spLocks noGrp="1"/>
          </p:cNvSpPr>
          <p:nvPr/>
        </p:nvSpPr>
        <p:spPr>
          <a:xfrm>
            <a:off x="495300" y="1352550"/>
            <a:ext cx="742950" cy="47625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</p:sp>
      <p:sp>
        <p:nvSpPr>
          <p:cNvPr id="4" name="page-7"/>
          <p:cNvSpPr>
            <a:spLocks noGrp="1"/>
          </p:cNvSpPr>
          <p:nvPr/>
        </p:nvSpPr>
        <p:spPr>
          <a:xfrm>
            <a:off x="1123950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4375" y="18097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100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先抓大头</a:t>
            </a:r>
            <a:endParaRPr sz="2100" b="1">
              <a:solidFill>
                <a:srgbClr val="C75B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14375" y="2333625"/>
            <a:ext cx="3905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重点爆款、重点活动、重点供应商</a:t>
            </a:r>
            <a:endParaRPr sz="17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供开经理亲自盯</a:t>
            </a:r>
            <a:endParaRPr sz="17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96125" y="18097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10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长尾做规则</a:t>
            </a:r>
            <a:endParaRPr sz="2100" b="1">
              <a:solidFill>
                <a:srgbClr val="2A8C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96125" y="2333625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小起订量、快补货、共用材料和包材</a:t>
            </a:r>
            <a:endParaRPr sz="17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按规则跑</a:t>
            </a:r>
            <a:endParaRPr sz="17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163320" y="3810000"/>
            <a:ext cx="10287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33500" y="4095750"/>
            <a:ext cx="95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sz="2100" b="1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095500" y="40957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看趋势</a:t>
            </a:r>
            <a:endParaRPr sz="1650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143500" y="4095750"/>
            <a:ext cx="95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55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sz="2550" b="1">
              <a:solidFill>
                <a:srgbClr val="2D6F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53125" y="40957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做补货</a:t>
            </a:r>
            <a:endParaRPr sz="1800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429750" y="4095750"/>
            <a:ext cx="95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2100" b="1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096500" y="409575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0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盯大促和异常</a:t>
            </a:r>
            <a:endParaRPr sz="1500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54292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我的精力要放在“大石头”和异常上，不能平均分给所有SKU。</a:t>
            </a:r>
            <a:endParaRPr sz="1875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8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不用等系统完美，先把这4张表跑起来</a:t>
            </a:r>
            <a:endParaRPr sz="28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ccent-8"/>
          <p:cNvSpPr>
            <a:spLocks noGrp="1"/>
          </p:cNvSpPr>
          <p:nvPr/>
        </p:nvSpPr>
        <p:spPr>
          <a:xfrm>
            <a:off x="495300" y="1352550"/>
            <a:ext cx="742950" cy="47625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</p:sp>
      <p:sp>
        <p:nvSpPr>
          <p:cNvPr id="4" name="page-8"/>
          <p:cNvSpPr>
            <a:spLocks noGrp="1"/>
          </p:cNvSpPr>
          <p:nvPr/>
        </p:nvSpPr>
        <p:spPr>
          <a:xfrm>
            <a:off x="1123950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905000"/>
            <a:ext cx="5257800" cy="1504950"/>
          </a:xfrm>
          <a:prstGeom prst="roundRect">
            <a:avLst>
              <a:gd name="adj" fmla="val 7595"/>
            </a:avLst>
          </a:prstGeom>
          <a:solidFill>
            <a:srgbClr val="EAF2F8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0955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13周销量/发货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571750"/>
            <a:ext cx="4724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看趋势、季节性和活动前后变化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305550" y="1905000"/>
            <a:ext cx="5257800" cy="1504950"/>
          </a:xfrm>
          <a:prstGeom prst="roundRect">
            <a:avLst>
              <a:gd name="adj" fmla="val 7595"/>
            </a:avLst>
          </a:prstGeom>
          <a:solidFill>
            <a:srgbClr val="E6F3F0"/>
          </a:solidFill>
          <a:ln w="9525">
            <a:solidFill>
              <a:srgbClr val="2A8C8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553200" y="20955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预测对实际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53200" y="2571750"/>
            <a:ext cx="4724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活动报了多少，最后卖了多少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3857625"/>
            <a:ext cx="5257800" cy="1504950"/>
          </a:xfrm>
          <a:prstGeom prst="roundRect">
            <a:avLst>
              <a:gd name="adj" fmla="val 7595"/>
            </a:avLst>
          </a:prstGeom>
          <a:solidFill>
            <a:srgbClr val="EAF2F8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404812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供应商交付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524375"/>
            <a:ext cx="4724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承诺交期、实际到货、插单和分批交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305550" y="3857625"/>
            <a:ext cx="5257800" cy="1504950"/>
          </a:xfrm>
          <a:prstGeom prst="roundRect">
            <a:avLst>
              <a:gd name="adj" fmla="val 7595"/>
            </a:avLst>
          </a:prstGeom>
          <a:solidFill>
            <a:srgbClr val="E6F3F0"/>
          </a:solidFill>
          <a:ln w="9525">
            <a:solidFill>
              <a:srgbClr val="2A8C8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553200" y="404812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异常成本</a:t>
            </a:r>
            <a:endParaRPr sz="18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53200" y="4524375"/>
            <a:ext cx="4724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缺货、滞销、跨仓、加急分别花了多少钱</a:t>
            </a:r>
            <a:endParaRPr sz="15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5619750"/>
            <a:ext cx="1066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每周复盘一次：到底是量没算准、库存没兜住，还是供应商没做到。</a:t>
            </a:r>
            <a:endParaRPr sz="1800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9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这本书对我这个供开经理，落到4个动作</a:t>
            </a:r>
            <a:endParaRPr sz="28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ccent-9"/>
          <p:cNvSpPr>
            <a:spLocks noGrp="1"/>
          </p:cNvSpPr>
          <p:nvPr/>
        </p:nvSpPr>
        <p:spPr>
          <a:xfrm>
            <a:off x="495300" y="1352550"/>
            <a:ext cx="742950" cy="47625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</p:sp>
      <p:sp>
        <p:nvSpPr>
          <p:cNvPr id="4" name="page-9"/>
          <p:cNvSpPr>
            <a:spLocks noGrp="1"/>
          </p:cNvSpPr>
          <p:nvPr/>
        </p:nvSpPr>
        <p:spPr>
          <a:xfrm>
            <a:off x="11239500" y="63055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1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0">
              <a:solidFill>
                <a:srgbClr val="6671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90550" y="1809750"/>
            <a:ext cx="5314950" cy="1638300"/>
          </a:xfrm>
          <a:prstGeom prst="roundRect">
            <a:avLst>
              <a:gd name="adj" fmla="val 6977"/>
            </a:avLst>
          </a:prstGeom>
          <a:solidFill>
            <a:srgbClr val="EAF2F8"/>
          </a:solidFill>
          <a:ln w="9525">
            <a:solidFill>
              <a:srgbClr val="2D6FA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01930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95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D6F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供应商准入</a:t>
            </a:r>
            <a:endParaRPr sz="1950" b="1">
              <a:solidFill>
                <a:srgbClr val="2D6F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533650"/>
            <a:ext cx="4667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除了价格，还要看MOQ、产能弹性、质量和合规。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286500" y="1809750"/>
            <a:ext cx="5314950" cy="1638300"/>
          </a:xfrm>
          <a:prstGeom prst="roundRect">
            <a:avLst>
              <a:gd name="adj" fmla="val 6977"/>
            </a:avLst>
          </a:prstGeom>
          <a:solidFill>
            <a:srgbClr val="E6F3F0"/>
          </a:solidFill>
          <a:ln w="9525">
            <a:solidFill>
              <a:srgbClr val="2A8C8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553200" y="201930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95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A8C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新品开发</a:t>
            </a:r>
            <a:endParaRPr sz="1950" b="1">
              <a:solidFill>
                <a:srgbClr val="2A8C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53200" y="2533650"/>
            <a:ext cx="4667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从打样到首单，提前讲清上线时间和补单节奏。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90550" y="3886200"/>
            <a:ext cx="5314950" cy="1638300"/>
          </a:xfrm>
          <a:prstGeom prst="roundRect">
            <a:avLst>
              <a:gd name="adj" fmla="val 6977"/>
            </a:avLst>
          </a:prstGeom>
          <a:solidFill>
            <a:srgbClr val="F8EEDB"/>
          </a:solidFill>
          <a:ln w="9525">
            <a:solidFill>
              <a:srgbClr val="A66A1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409575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950" b="1">
                <a:solidFill>
                  <a:srgbClr val="A6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A6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大促备货</a:t>
            </a:r>
            <a:endParaRPr sz="1950" b="1">
              <a:solidFill>
                <a:srgbClr val="A66A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610100"/>
            <a:ext cx="4667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敢追问预测假设，同时准备保守版和冲量版方案。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86500" y="3886200"/>
            <a:ext cx="5314950" cy="1638300"/>
          </a:xfrm>
          <a:prstGeom prst="roundRect">
            <a:avLst>
              <a:gd name="adj" fmla="val 6977"/>
            </a:avLst>
          </a:prstGeom>
          <a:solidFill>
            <a:srgbClr val="F6E8E5"/>
          </a:solidFill>
          <a:ln w="9525">
            <a:solidFill>
              <a:srgbClr val="C75B4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553200" y="409575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950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75B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OTD与降本</a:t>
            </a:r>
            <a:endParaRPr sz="1950" b="1">
              <a:solidFill>
                <a:srgbClr val="C75B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53200" y="4610100"/>
            <a:ext cx="4667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把插单、加急、跨仓和滞销成本一起算，不只看采购价。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514350"/>
            <a:ext cx="1057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分享完，我准备先做一个小动作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428750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00" b="0">
                <a:solidFill>
                  <a:srgbClr val="D8E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8E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选1个家居百货爆款，再选1个儿童玩具新品，拉一张13周小表。</a:t>
            </a:r>
            <a:endParaRPr sz="1800" b="0">
              <a:solidFill>
                <a:srgbClr val="D8E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66750" y="2238375"/>
            <a:ext cx="10477500" cy="628650"/>
          </a:xfrm>
          <a:prstGeom prst="roundRect">
            <a:avLst>
              <a:gd name="adj" fmla="val 18182"/>
            </a:avLst>
          </a:prstGeom>
          <a:solidFill>
            <a:srgbClr val="1E466D"/>
          </a:solidFill>
          <a:ln w="9525">
            <a:solidFill>
              <a:srgbClr val="5A83A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33450" y="2333625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80000"/>
          </a:bodyPr>
          <a:lstStyle/>
          <a:p>
            <a:pPr algn="l"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1｜需求：活动目标和真实销量差多少？</a:t>
            </a:r>
            <a:r>
              <a:rPr lang="zh-CN"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活动目标按周提供，往往是我们在与</a:t>
            </a:r>
            <a:r>
              <a:rPr lang="en-US" altLang="zh-CN"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PBU</a:t>
            </a:r>
            <a:r>
              <a:rPr lang="zh-CN" altLang="en-US"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的协同里，交付缺失的数据</a:t>
            </a:r>
            <a:endParaRPr lang="zh-CN" altLang="en-US"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3114675"/>
            <a:ext cx="10477500" cy="628650"/>
          </a:xfrm>
          <a:prstGeom prst="roundRect">
            <a:avLst>
              <a:gd name="adj" fmla="val 18182"/>
            </a:avLst>
          </a:prstGeom>
          <a:solidFill>
            <a:srgbClr val="244F78"/>
          </a:solidFill>
          <a:ln w="9525">
            <a:solidFill>
              <a:srgbClr val="5A83A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33450" y="3209925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2｜库存：首单、补单、安全库存怎么定？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3990975"/>
            <a:ext cx="10477500" cy="628650"/>
          </a:xfrm>
          <a:prstGeom prst="roundRect">
            <a:avLst>
              <a:gd name="adj" fmla="val 18182"/>
            </a:avLst>
          </a:prstGeom>
          <a:solidFill>
            <a:srgbClr val="1E466D"/>
          </a:solidFill>
          <a:ln w="9525">
            <a:solidFill>
              <a:srgbClr val="5A83A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4086225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3｜供应：MOQ、交期、插单、分批交能做到多少？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5191125"/>
            <a:ext cx="10477500" cy="838200"/>
          </a:xfrm>
          <a:prstGeom prst="roundRect">
            <a:avLst>
              <a:gd name="adj" fmla="val 13636"/>
            </a:avLst>
          </a:prstGeom>
          <a:solidFill>
            <a:srgbClr val="E6A23C"/>
          </a:solidFill>
          <a:ln w="9525">
            <a:solidFill>
              <a:srgbClr val="E6A23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5314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3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现场讨论：我们现在最常见的是量没想清楚，还是供应商做不到？</a:t>
            </a:r>
            <a:endParaRPr sz="2100" b="1">
              <a:solidFill>
                <a:srgbClr val="183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0" y="62388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1350" b="0">
                <a:solidFill>
                  <a:srgbClr val="D8E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8E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先把两个SKU跑通，再复制到更多品类。</a:t>
            </a:r>
            <a:endParaRPr sz="1350" b="0">
              <a:solidFill>
                <a:srgbClr val="D8E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7.5,&quot;left&quot;:43.5,&quot;top&quot;:142.5,&quot;width&quot;:873}"/>
</p:tagLst>
</file>

<file path=ppt/tags/tag2.xml><?xml version="1.0" encoding="utf-8"?>
<p:tagLst xmlns:p="http://schemas.openxmlformats.org/presentationml/2006/main">
  <p:tag name="KSO_WM_DIAGRAM_VIRTUALLY_FRAME" val="{&quot;height&quot;:247.5,&quot;left&quot;:43.5,&quot;top&quot;:142.5,&quot;width&quot;:873}"/>
</p:tagLst>
</file>

<file path=ppt/tags/tag3.xml><?xml version="1.0" encoding="utf-8"?>
<p:tagLst xmlns:p="http://schemas.openxmlformats.org/presentationml/2006/main">
  <p:tag name="KSO_WM_DIAGRAM_VIRTUALLY_FRAME" val="{&quot;height&quot;:247.5,&quot;left&quot;:43.5,&quot;top&quot;:142.5,&quot;width&quot;:873}"/>
</p:tagLst>
</file>

<file path=ppt/tags/tag4.xml><?xml version="1.0" encoding="utf-8"?>
<p:tagLst xmlns:p="http://schemas.openxmlformats.org/presentationml/2006/main">
  <p:tag name="KSO_WM_DIAGRAM_VIRTUALLY_FRAME" val="{&quot;height&quot;:247.5,&quot;left&quot;:43.5,&quot;top&quot;:142.5,&quot;width&quot;:873}"/>
</p:tagLst>
</file>

<file path=ppt/tags/tag5.xml><?xml version="1.0" encoding="utf-8"?>
<p:tagLst xmlns:p="http://schemas.openxmlformats.org/presentationml/2006/main">
  <p:tag name="KSO_WM_DIAGRAM_VIRTUALLY_FRAME" val="{&quot;height&quot;:247.5,&quot;left&quot;:43.5,&quot;top&quot;:142.5,&quot;width&quot;:873}"/>
</p:tagLst>
</file>

<file path=ppt/tags/tag6.xml><?xml version="1.0" encoding="utf-8"?>
<p:tagLst xmlns:p="http://schemas.openxmlformats.org/presentationml/2006/main">
  <p:tag name="KSO_WM_DIAGRAM_VIRTUALLY_FRAME" val="{&quot;height&quot;:247.5,&quot;left&quot;:43.5,&quot;top&quot;:142.5,&quot;width&quot;:873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1449</Words>
  <Application>WPS 演示</Application>
  <PresentationFormat>Converted Presentation</PresentationFormat>
  <Paragraphs>220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無所</cp:lastModifiedBy>
  <cp:revision>2</cp:revision>
  <dcterms:created xsi:type="dcterms:W3CDTF">2026-08-06T03:01:00Z</dcterms:created>
  <dcterms:modified xsi:type="dcterms:W3CDTF">2026-08-07T00:52:03Z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91A8CB9E23F641848CA68444819CA3FA_13</vt:lpwstr>
  </property>
</Properties>
</file>