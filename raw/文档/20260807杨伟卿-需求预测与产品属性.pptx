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6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8/5 读书笔记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77240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需求预测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与产品管理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刘宝红《供应链管理》读书笔记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3200400" cy="36576"/>
          </a:xfrm>
          <a:prstGeom prst="rect">
            <a:avLst/>
          </a:prstGeom>
          <a:solidFill>
            <a:srgbClr val="0D9488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核心命题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需求预测：先解决什么？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0" cy="2560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384048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Shape 5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14884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怎么做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方法决定一切。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数据该跑多少？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判断该加多少？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——先建流程，再谈分工。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834640"/>
            <a:ext cx="640080" cy="457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46320" y="1828800"/>
            <a:ext cx="3840480" cy="2560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828800"/>
            <a:ext cx="3840480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Shape 11"/>
          <p:cNvSpPr/>
          <p:nvPr/>
        </p:nvSpPr>
        <p:spPr>
          <a:xfrm>
            <a:off x="5120640" y="2148840"/>
            <a:ext cx="502920" cy="5029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2"/>
          <p:cNvSpPr/>
          <p:nvPr/>
        </p:nvSpPr>
        <p:spPr>
          <a:xfrm>
            <a:off x="5120640" y="21488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806440" y="214884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谁来做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120640" y="283464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方法明确之后才谈分工。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谁能做数据？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谁能给判断？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——分工建立在流程之上。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"怎么做的问题不解决，不管是谁做都做不好。"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反面教材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先定「谁来做」：三种失败模式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60320" cy="2560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560320" cy="54864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运营来做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65176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拍脑袋决策，只有目标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没有供应实际支撑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560320" cy="2560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737360"/>
            <a:ext cx="2560320" cy="54864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计划来做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11880" y="265176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脱离历史数据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没有判断依据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1737360"/>
            <a:ext cx="2560320" cy="25603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737360"/>
            <a:ext cx="2560320" cy="54864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116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大家一起做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46520" y="265176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责任分散效应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没人真正负责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核心问题：方法没确定，换谁做都一样不准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正确路径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先定「怎么做」：方法立住，换人依然管用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60320" cy="27432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3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5146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明确方法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数据该跑多少？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判断该加多少？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模型参数定清楚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560320" cy="27432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66160" y="18288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3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5146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清晰分工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66160" y="301752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谁能做数据？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谁能给判断？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角色与职责匹配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1737360"/>
            <a:ext cx="2560320" cy="27432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0" y="18288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3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20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5146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流程复盘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00800" y="301752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数据模型不准？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还是判断输入有误？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复盘流程，不追责人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CCFBF1"/>
          </a:solidFill>
        </p:spPr>
      </p:sp>
      <p:sp>
        <p:nvSpPr>
          <p:cNvPr id="21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结果：从「被动救火」变成「主动防火」——即使关键人员离职，体系依然稳健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方法论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从数据开始，由判断结束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74720" cy="2194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474720" cy="73152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31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数据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D9488"/>
                </a:solidFill>
              </a:rPr>
              <a:t>决定「存量」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历史数据稳定可靠时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用合适的模型预测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834640"/>
            <a:ext cx="64008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24231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029200" y="2011680"/>
            <a:ext cx="3474720" cy="2194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29200" y="2011680"/>
            <a:ext cx="3474720" cy="73152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3317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97880" y="2331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判断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5303520" y="2971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59E0B"/>
                </a:solidFill>
              </a:rPr>
              <a:t>决定「增量」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数据无法覆盖的部分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群策群力做判断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预测引擎 = 数据模型 × 判断输入。两者缺一不可，但顺序不能颠倒。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274320"/>
            <a:ext cx="914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顺序对了，需求预测从「责任转移工具」</a:t>
            </a:r>
            <a:endParaRPr lang="en-US" sz="2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变成「管理决策工具」；</a:t>
            </a:r>
            <a:endParaRPr lang="en-US" sz="2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顺序错了，就是在不同的背锅侠之间</a:t>
            </a:r>
            <a:endParaRPr lang="en-US" sz="2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来回切换，永远解决不了问题。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3657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—— 刘宝红《供应链管理》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4206240"/>
            <a:ext cx="2743200" cy="27432"/>
          </a:xfrm>
          <a:prstGeom prst="rect">
            <a:avLst/>
          </a:prstGeom>
          <a:solidFill>
            <a:srgbClr val="0D9488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产品分类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长尾 vs 短尾：两种产品逻辑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Shape 5"/>
          <p:cNvSpPr/>
          <p:nvPr/>
        </p:nvSpPr>
        <p:spPr>
          <a:xfrm>
            <a:off x="457200" y="1554480"/>
            <a:ext cx="3931920" cy="731520"/>
          </a:xfrm>
          <a:prstGeom prst="rect">
            <a:avLst/>
          </a:prstGeom>
          <a:solidFill>
            <a:srgbClr val="FEF3C7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916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短尾产品 · 头部爆款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5603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70-90%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31520" y="31089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占店铺总销售额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34640" y="256032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少量SKU、大众化、标准化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走规模化大批量生产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竞争激烈、价格透明、利润薄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65760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矿泉水 纸巾 大米 基础T恤 手机壳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554480"/>
            <a:ext cx="3931920" cy="3108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554480"/>
            <a:ext cx="393192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6" name="Shape 13"/>
          <p:cNvSpPr/>
          <p:nvPr/>
        </p:nvSpPr>
        <p:spPr>
          <a:xfrm>
            <a:off x="4754880" y="1554480"/>
            <a:ext cx="3931920" cy="731520"/>
          </a:xfrm>
          <a:prstGeom prst="rect">
            <a:avLst/>
          </a:prstGeom>
          <a:solidFill>
            <a:srgbClr val="CCFBF1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6916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长尾产品 · 尾部小众品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029200" y="25603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≈ 头部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5029200" y="31089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海量小众合计 ≈ 爆款总销售额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132320" y="256032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海量SKU、细分差异化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小批量备货、库存压力小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竞争小、溢价高、单品利润更高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29200" y="400685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限定文具 异形防尘罩 老式机床零件 国风礼服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深度解析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短尾产品：头部爆款的逻辑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solidFill>
            <a:srgbClr val="FEF3C7">
              <a:alpha val="5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916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受众基数大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1993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几乎所有人都有需求，市场面广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688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单款销量极高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25880" y="27706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占店铺总销售额 70%~90%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FEF3C7">
              <a:alpha val="50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461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竞争激烈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25880" y="35478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价格透明，利润薄，走规模化路线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605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0233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备货量大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325880" y="43251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大批量生产，关键词短（短词大词）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24" name="Text 1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典型：超市 → 矿泉水/纸巾/大米 | 电商 → 手机壳/基础T恤/通用数据线 | 跨境 → 基础收纳盒/通用水杯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深度解析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长尾产品：小众品类的价值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solidFill>
            <a:srgbClr val="CCFBF1">
              <a:alpha val="5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916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单品量小，SKU极多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1993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海量小众商品加总后总收益可观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688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合计收益可观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25880" y="27706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全部长尾合计销售额能追上甚至超过爆款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CCFBF1">
              <a:alpha val="50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461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差异化强，溢价高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25880" y="35478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竞争小，单款利润更高，库存压力小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605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0233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关键词精准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325880" y="43251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对应精准长关键词，客户主动搜索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CCFBF1"/>
          </a:solidFill>
        </p:spPr>
      </p:sp>
      <p:sp>
        <p:nvSpPr>
          <p:cNvPr id="24" name="Text 1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典型：文具→限定笔/复古贴纸 | 家居→异形防尘罩/老式配件 | 服装→大码国风/矫正内衣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决策场景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哪些产品需要和运营讨论订货？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三类需要跨职能决策的产品特征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2651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560320" cy="54864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80160" y="2148840"/>
            <a:ext cx="1371600" cy="292608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10" name="Text 7"/>
          <p:cNvSpPr/>
          <p:nvPr/>
        </p:nvSpPr>
        <p:spPr>
          <a:xfrm>
            <a:off x="1280160" y="2148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无独立销售历史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6060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衍生品属性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01752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作为其他类目的衍生品，没有独立的销售数据可供参考，无法使用基于历史数据的常规预测模型。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828800"/>
            <a:ext cx="2560320" cy="2651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828800"/>
            <a:ext cx="2560320" cy="54864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103120"/>
            <a:ext cx="411480" cy="4114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114800" y="2148840"/>
            <a:ext cx="1371600" cy="292608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17" name="Text 13"/>
          <p:cNvSpPr/>
          <p:nvPr/>
        </p:nvSpPr>
        <p:spPr>
          <a:xfrm>
            <a:off x="4114800" y="2148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高误判风险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66160" y="26060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需求信号弱且模糊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66160" y="301752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销量虽然开始上涨，但趋势没有具体体现，信号微弱甚至可能是随机波动。贸然行动风险很高。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26480" y="1828800"/>
            <a:ext cx="2560320" cy="2651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828800"/>
            <a:ext cx="2560320" cy="54864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411480" cy="4114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949440" y="2148840"/>
            <a:ext cx="1371600" cy="292608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24" name="Text 19"/>
          <p:cNvSpPr/>
          <p:nvPr/>
        </p:nvSpPr>
        <p:spPr>
          <a:xfrm>
            <a:off x="6949440" y="2148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需联合判断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0" y="26060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市场不确定性高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400800" y="301752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可能处于市场培育期，或受季节、流行趋势等复杂因素影响，未来销量难以判断。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不是把库存压力推给运营，而是识别出常规预测模型失效的品类，需要联合判断。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关键收获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THREE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2743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640080" y="16459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方法先于人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先建流程再谈分工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方法立住，换人依然管用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顺序对了，预测才是管理工具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2743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1" name="Shape 9"/>
          <p:cNvSpPr/>
          <p:nvPr/>
        </p:nvSpPr>
        <p:spPr>
          <a:xfrm>
            <a:off x="3291840" y="1463040"/>
            <a:ext cx="25603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2" name="Text 10"/>
          <p:cNvSpPr/>
          <p:nvPr/>
        </p:nvSpPr>
        <p:spPr>
          <a:xfrm>
            <a:off x="3474720" y="16459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流程复盘代替追责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错了复盘「流程和数据」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不追责「谁的责任」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从被动救火到主动防火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560320" cy="2743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6" name="Shape 14"/>
          <p:cNvSpPr/>
          <p:nvPr/>
        </p:nvSpPr>
        <p:spPr>
          <a:xfrm>
            <a:off x="6126480" y="1463040"/>
            <a:ext cx="25603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6309360" y="16459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21945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品类策略差异化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7432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短尾走量、长尾走利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衍生品需要联合判断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一刀切的预测方法注定失败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4434840"/>
            <a:ext cx="4572000" cy="274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8/5 读书笔记 · 庞贝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1418</Words>
  <Application>WPS 演示</Application>
  <PresentationFormat>On-screen Show (16:9)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Georgia</vt:lpstr>
      <vt:lpstr>Georgia</vt:lpstr>
      <vt:lpstr>Georgia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需求预测与产品管理 - 读书笔记</dc:title>
  <dc:creator>庞贝</dc:creator>
  <dc:subject>PptxGenJS Presentation</dc:subject>
  <cp:lastModifiedBy>庞贝</cp:lastModifiedBy>
  <cp:revision>2</cp:revision>
  <dcterms:created xsi:type="dcterms:W3CDTF">2026-08-07T01:24:00Z</dcterms:created>
  <dcterms:modified xsi:type="dcterms:W3CDTF">2026-08-07T01:28:54Z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055589D25ED048B5ACCEA42F31E95CCB_12</vt:lpwstr>
  </property>
</Properties>
</file>