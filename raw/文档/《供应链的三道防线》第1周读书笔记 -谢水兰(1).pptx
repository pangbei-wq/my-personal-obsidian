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5" r:id="rId9"/>
    <p:sldId id="260" r:id="rId10"/>
    <p:sldId id="264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各位同事,大家好。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今天是我们《供应链的三道防线》读书会的第一周分享。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本周我们的阅读范围是从书的引言,一直到第一篇的开篇部分,具体页码是 P1 到 P17。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让我们一起开始这段供应链管理的学习之旅。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这一页展示了我们本周的学习计划。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我们将从整体框架入手,理解供应链的三道防线。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接着,我们会深入探讨"需求预测"这一核心概念,并学习一套科学的方法论。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为了让大家更好地掌握,我们会通过"平时"与"战时"这两个具体的业务场景进行分析。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最后,我们会通过实际案例进行复盘,并布置下周的预习任务。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这一页展示了本书的核心框架——供应链的三道防线,我们用"堤坝"来做一个形象的比喻。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首先是核心认知:很多问题表面上是执行问题,但根源往往在于计划。计划是三分技术、七分管理,而这本书的重点,就是这"七分管理"。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第一道防线是"需求预测",这是最上游的第一道堤坝,我们的目标是拦截约 80% 的"不确定性洪水",提高首发命中率。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第二道防线是"库存计划",当预测不准时,我们需要依靠安全库存来应对波动,这部分拦截 10% 到 20% 的流量。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第三道防线是"供应链执行",这是最后的兜底机制,用来处理剩下 5% 到 10% 的意外情况。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通过这三道防线的层层过滤,我们就能构建一个更加稳健的供应链体系。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这一页我们来深入探讨一个核心概念:什么是需求预测。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首先,我们的核心目标非常明确,就是通过精准的预测,让销售与供应链能够完美对接,从而提升业务首发命中率。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这里有一个非常关键的区分,大家一定要记牢:需求预测 ≠ 销售目标。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左边的"销售目标",它的本质是一个行政命令,是为了给团队打鸡血,是一个偏向销售端的考核指标。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而右边的"需求预测",它是基于数据和业务判断的理性推导,它的作用是用供应链的理性去制衡销售的感性。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最后,请大家务必警惕底部的这个误区。如果我们在实际工作中,简单地把销售目标等同于需求预测,直接用它来指导采购和生产,那后果往往是灾难性的,不是造成大量库存积压,就是导致生产不足、交付延期。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这一页我们来深入探讨需求预测的核心方法论。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首先,我们的预测必须"从数据开始"。这意味着我们要利用历史发货记录、出货量等客观数据,建立一个坚实的预测基线。这能有效避免我们仅凭直觉"拍脑袋"做出的不切实际的决定。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其次,预测不能完全交给冰冷的数据,必须"由判断结束"。我们需要基于当前的业务动态,如即将到来的促销活动、新产品上市、客户的重大项目进展,甚至是宏观市场行情的变化,来对数据基线进行修正。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那么,数据和判断哪个更重要呢?这取决于具体的产品类型。对于标准化、需求稳定的成熟产品,我们应更相信数据;而对于波动较大的新品、促销品或长周期物料,则需要更多地依赖业务判断。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总结来说,数据是我们的基础,判断是我们的灵魂,两者结合才能实现精准的需求预测。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这一页是本周学习的总结,主要分为三个部分。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首先是核心框架,我们建立了三道防线:第一道是需求预测,追求首发命中率;第二道是库存计划,用安全库存来缓冲预测的偏差;第三道是供应链执行,用来处理最后的不确定性。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三个核心知识点。第一,需求预测的本质是"准确度高的错误预测",它不等同于销售目标。第二,我们的方法论是"从数据开始,由判断结束",并根据业务可重复性动态调整数据与判断权重。第三,我们需要区分"平时"和"战时"两类业务,匹配不同的预测策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最后是留给大家的思考空间,请各位在会后填写具体的疑问,用于后续的深入研讨。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2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583565" y="2819400"/>
            <a:ext cx="4300220" cy="1219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" name="AutoShape 2"/>
          <p:cNvSpPr/>
          <p:nvPr/>
        </p:nvSpPr>
        <p:spPr>
          <a:xfrm>
            <a:off x="711200" y="711200"/>
            <a:ext cx="107696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4800" b="1" i="0" u="none" strike="noStrike" spc="200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《供应链的三道防线》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56615" y="3027680"/>
            <a:ext cx="1076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0" i="0" u="none" strike="noStrike" spc="30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读书会｜第1周学习分享</a:t>
            </a:r>
            <a:endParaRPr lang="en-US" sz="2200" b="0" i="0" u="none" strike="noStrike" spc="30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01060" y="3529965"/>
            <a:ext cx="14827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1600" spc="3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DejaVu Math TeX Gyre" panose="02000503000000000000" charset="0"/>
              </a:rPr>
              <a:t>2026-8-6</a:t>
            </a:r>
            <a:endParaRPr lang="en-US" sz="1600" spc="3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DejaVu Math TeX Gyre" panose="0200050300000000000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目录页｜本周学习内容概览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2954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本周学习重点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11200" y="1905000"/>
            <a:ext cx="5232400" cy="14224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cap="flat" cmpd="sng">
            <a:solidFill>
              <a:srgbClr val="00342B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11200" y="1905000"/>
            <a:ext cx="50800" cy="1422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965200" y="1905000"/>
            <a:ext cx="1016000" cy="142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600" b="1" i="0" u="none" strike="noStrike">
                <a:solidFill>
                  <a:srgbClr val="004D40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2082800" y="1905000"/>
            <a:ext cx="370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全书整体框架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2082800" y="2413000"/>
            <a:ext cx="3708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供应链三道防线模型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248400" y="1905000"/>
            <a:ext cx="5232400" cy="14224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cap="flat" cmpd="sng">
            <a:solidFill>
              <a:srgbClr val="00342B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6248400" y="1905000"/>
            <a:ext cx="50800" cy="1422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6502400" y="1905000"/>
            <a:ext cx="1016000" cy="142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600" b="1" i="0" u="none" strike="noStrike">
                <a:solidFill>
                  <a:srgbClr val="004D40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620000" y="1905000"/>
            <a:ext cx="370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7620000" y="2413000"/>
            <a:ext cx="3708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需求预测是什么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711200" y="3352800"/>
            <a:ext cx="5232400" cy="14224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cap="flat" cmpd="sng">
            <a:solidFill>
              <a:srgbClr val="00342B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711200" y="3352800"/>
            <a:ext cx="50800" cy="1422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965200" y="3352800"/>
            <a:ext cx="1016000" cy="142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600" b="1" i="0" u="none" strike="noStrike">
                <a:solidFill>
                  <a:srgbClr val="004D40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2082800" y="3352800"/>
            <a:ext cx="370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需求预测方法论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2082800" y="3860800"/>
            <a:ext cx="3708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从数据开始,由判断结束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6248400" y="3352800"/>
            <a:ext cx="50800" cy="1422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7"/>
            </p:custDataLst>
          </p:nvPr>
        </p:nvSpPr>
        <p:spPr>
          <a:xfrm>
            <a:off x="6502400" y="3352800"/>
            <a:ext cx="1016000" cy="142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600" b="1" i="0" u="none" strike="noStrike">
                <a:solidFill>
                  <a:srgbClr val="004D40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18"/>
            </p:custDataLst>
          </p:nvPr>
        </p:nvSpPr>
        <p:spPr>
          <a:xfrm>
            <a:off x="6248400" y="3378200"/>
            <a:ext cx="5232400" cy="1422400"/>
          </a:xfrm>
          <a:prstGeom prst="roundRect">
            <a:avLst>
              <a:gd name="adj" fmla="val 0"/>
            </a:avLst>
          </a:prstGeom>
          <a:solidFill>
            <a:srgbClr val="004D40">
              <a:alpha val="4000"/>
            </a:srgbClr>
          </a:solidFill>
          <a:ln cap="flat" cmpd="sng">
            <a:solidFill>
              <a:srgbClr val="00342B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19"/>
            </p:custDataLst>
          </p:nvPr>
        </p:nvSpPr>
        <p:spPr>
          <a:xfrm>
            <a:off x="7442200" y="3784600"/>
            <a:ext cx="3708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思考&amp;疑问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20"/>
            </p:custDataLst>
          </p:nvPr>
        </p:nvSpPr>
        <p:spPr>
          <a:xfrm>
            <a:off x="2082800" y="5308600"/>
            <a:ext cx="3708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全书框架｜供应链的三道防线(堤坝比喻)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219200"/>
            <a:ext cx="10769600" cy="965200"/>
          </a:xfrm>
          <a:prstGeom prst="roundRect">
            <a:avLst>
              <a:gd name="adj" fmla="val 0"/>
            </a:avLst>
          </a:prstGeom>
          <a:solidFill>
            <a:srgbClr val="F0F5F4">
              <a:alpha val="100000"/>
            </a:srgbClr>
          </a:solidFill>
          <a:ln cap="flat" cmpd="sng">
            <a:solidFill>
              <a:srgbClr val="C1DCD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1219200"/>
            <a:ext cx="50800" cy="965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65200" y="12446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核心认知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65200" y="1549400"/>
            <a:ext cx="1041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4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很多供应链问题,表面看是执行问题,根源往往在计划。计划是</a:t>
            </a: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三分技术、七分管理</a:t>
            </a:r>
            <a:r>
              <a:rPr lang="en-US" sz="14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。本书重点聚焦"七分管理",理顺需求再理顺供应。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11200" y="2286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F7F9F8">
              <a:alpha val="100000"/>
            </a:srgbClr>
          </a:solidFill>
          <a:ln cap="flat" cmpd="sng">
            <a:solidFill>
              <a:srgbClr val="C7E0D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11200" y="2286000"/>
            <a:ext cx="50800" cy="304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14400" y="23114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5200" b="1" i="0" u="none" strike="noStrike">
                <a:solidFill>
                  <a:srgbClr val="004D40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14400" y="3149600"/>
            <a:ext cx="3200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第一道防线:需求预测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14400" y="3581400"/>
            <a:ext cx="1143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14400" y="3835400"/>
            <a:ext cx="3200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如何提高预测准确率,提升首发命中率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861">
            <a:off x="914413" y="4425950"/>
            <a:ext cx="3149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914400" y="4470400"/>
            <a:ext cx="3200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堤坝比喻:抵御洪水占比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" y="4724400"/>
            <a:ext cx="320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拦住约</a:t>
            </a:r>
            <a:r>
              <a:rPr lang="en-US" sz="2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80%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的洪水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18000" y="2286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F7F9F8">
              <a:alpha val="100000"/>
            </a:srgbClr>
          </a:solidFill>
          <a:ln cap="flat" cmpd="sng">
            <a:solidFill>
              <a:srgbClr val="C7E0D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318000" y="2286000"/>
            <a:ext cx="50800" cy="304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521200" y="23114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5200" b="1" i="0" u="none" strike="noStrike">
                <a:solidFill>
                  <a:srgbClr val="004D40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21200" y="3149600"/>
            <a:ext cx="3200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第二道防线:库存计划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21200" y="3581400"/>
            <a:ext cx="1143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21200" y="3835400"/>
            <a:ext cx="3200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预测不准怎么办?依靠安全库存应对波动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3861">
            <a:off x="4521213" y="4425950"/>
            <a:ext cx="3149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521200" y="4470400"/>
            <a:ext cx="3200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堤坝比喻:抵御洪水占比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21200" y="4724400"/>
            <a:ext cx="320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拦住</a:t>
            </a:r>
            <a:r>
              <a:rPr lang="en-US" sz="2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10%-20%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的洪水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924800" y="2286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F7F9F8">
              <a:alpha val="100000"/>
            </a:srgbClr>
          </a:solidFill>
          <a:ln cap="flat" cmpd="sng">
            <a:solidFill>
              <a:srgbClr val="C7E0D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924800" y="2286000"/>
            <a:ext cx="50800" cy="304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128000" y="23114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5200" b="1" i="0" u="none" strike="noStrike">
                <a:solidFill>
                  <a:srgbClr val="004D40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3149600"/>
            <a:ext cx="3200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第三道防线:供应链执行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28000" y="3581400"/>
            <a:ext cx="1143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128000" y="3835400"/>
            <a:ext cx="3200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预测出错、库存不足,靠执行兜底弥补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3861">
            <a:off x="8128013" y="4425950"/>
            <a:ext cx="3149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D40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8128000" y="4470400"/>
            <a:ext cx="32004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堤坝比喻:抵御洪水占比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128000" y="4724400"/>
            <a:ext cx="3200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处理最后</a:t>
            </a:r>
            <a:r>
              <a:rPr lang="en-US" sz="2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5%-10%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的洪水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11200" y="5588000"/>
            <a:ext cx="10769600" cy="965200"/>
          </a:xfrm>
          <a:prstGeom prst="roundRect">
            <a:avLst>
              <a:gd name="adj" fmla="val 0"/>
            </a:avLst>
          </a:prstGeom>
          <a:solidFill>
            <a:srgbClr val="E8F0EE">
              <a:alpha val="100000"/>
            </a:srgbClr>
          </a:solidFill>
          <a:ln cap="flat" cmpd="sng">
            <a:solidFill>
              <a:srgbClr val="BAD6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711200" y="5588000"/>
            <a:ext cx="50800" cy="9652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65200" y="5626100"/>
            <a:ext cx="139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本书定位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65200" y="5918200"/>
            <a:ext cx="10414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刘宝红供应链丛书之「</a:t>
            </a: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中间治乱</a:t>
            </a:r>
            <a:r>
              <a:rPr lang="en-US" sz="1400" b="0" i="0" u="none" strike="noStrike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」,通过优化计划环节,理顺需求,进而理顺供应。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核心概念一:什么是需求预测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295400"/>
            <a:ext cx="10769600" cy="1168400"/>
          </a:xfrm>
          <a:prstGeom prst="roundRect">
            <a:avLst>
              <a:gd name="adj" fmla="val 0"/>
            </a:avLst>
          </a:prstGeom>
          <a:solidFill>
            <a:srgbClr val="F0F7F5">
              <a:alpha val="100000"/>
            </a:srgbClr>
          </a:solidFill>
          <a:ln cap="flat" cmpd="sng">
            <a:solidFill>
              <a:srgbClr val="C1DED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11200" y="1295400"/>
            <a:ext cx="50800" cy="1168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3716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803400"/>
            <a:ext cx="1028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对接销售与供应链,输出</a:t>
            </a: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准确度高的错误的预测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,提升业务首发命中率。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11200" y="2667000"/>
            <a:ext cx="10769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关键区分:需求预测 ≠ 销售目标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" y="3200400"/>
            <a:ext cx="5283200" cy="18034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cap="flat" cmpd="sng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11200" y="3200400"/>
            <a:ext cx="50800" cy="1803400"/>
          </a:xfrm>
          <a:prstGeom prst="roundRect">
            <a:avLst>
              <a:gd name="adj" fmla="val 0"/>
            </a:avLst>
          </a:prstGeom>
          <a:solidFill>
            <a:srgbClr val="666666">
              <a:alpha val="100000"/>
            </a:srgbClr>
          </a:solidFill>
          <a:ln cap="flat" cmpd="sng">
            <a:solidFill>
              <a:srgbClr val="4D454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2512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销售目标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708400"/>
            <a:ext cx="4851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属于行政命令,用来激励业务团队,偏向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销售端的考核指标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;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97600" y="3200400"/>
            <a:ext cx="5283200" cy="1803400"/>
          </a:xfrm>
          <a:prstGeom prst="roundRect">
            <a:avLst>
              <a:gd name="adj" fmla="val 0"/>
            </a:avLst>
          </a:prstGeom>
          <a:solidFill>
            <a:srgbClr val="E8F2EF">
              <a:alpha val="100000"/>
            </a:srgbClr>
          </a:solidFill>
          <a:ln cap="flat" cmpd="sng">
            <a:solidFill>
              <a:srgbClr val="BAD8C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197600" y="3200400"/>
            <a:ext cx="50800" cy="1803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02400" y="32512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需求预测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02400" y="3708400"/>
            <a:ext cx="4851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基于数据+业务判断的理性推导,用</a:t>
            </a: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供应链理性制衡销售的感性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" y="5207000"/>
            <a:ext cx="10769600" cy="1346200"/>
          </a:xfrm>
          <a:prstGeom prst="roundRect">
            <a:avLst>
              <a:gd name="adj" fmla="val 0"/>
            </a:avLst>
          </a:prstGeom>
          <a:solidFill>
            <a:srgbClr val="FDF8EB">
              <a:alpha val="100000"/>
            </a:srgbClr>
          </a:solidFill>
          <a:ln cap="flat" cmpd="sng">
            <a:solidFill>
              <a:srgbClr val="E4D9B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11200" y="5207000"/>
            <a:ext cx="50800" cy="1346200"/>
          </a:xfrm>
          <a:prstGeom prst="roundRect">
            <a:avLst>
              <a:gd name="adj" fmla="val 0"/>
            </a:avLst>
          </a:prstGeom>
          <a:solidFill>
            <a:srgbClr val="E69B14">
              <a:alpha val="100000"/>
            </a:srgbClr>
          </a:solidFill>
          <a:ln cap="flat" cmpd="sng">
            <a:solidFill>
              <a:srgbClr val="CD83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2578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BE82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误区警示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715000"/>
            <a:ext cx="10287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业务中很容易把两者混为一谈,拿销售目标直接当做需求预测去做采购、排产,会直接造成</a:t>
            </a:r>
            <a:r>
              <a:rPr lang="en-US" sz="1500" b="1" i="0" u="none" strike="noStrike">
                <a:solidFill>
                  <a:srgbClr val="BE820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库存或者交付问题</a:t>
            </a:r>
            <a:r>
              <a:rPr lang="en-US" sz="15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</a:t>
            </a:r>
            <a:r>
              <a:rPr lang="zh-CN" altLang="en-US" sz="3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r>
              <a:rPr lang="en-US" sz="3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:需求预测的风险博弈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295400"/>
            <a:ext cx="107696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需求预测本质是一场</a:t>
            </a: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风险博弈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,供应链弱势一方最终兜底承担不确定性风险。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11200" y="1930400"/>
            <a:ext cx="10769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风险不会消失,只会转移: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预测偏差带来的风险,最终会落到供应链中最弱势、最没有话语权的一方。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11200" y="2590800"/>
            <a:ext cx="5207000" cy="2438400"/>
          </a:xfrm>
          <a:prstGeom prst="roundRect">
            <a:avLst>
              <a:gd name="adj" fmla="val 0"/>
            </a:avLst>
          </a:prstGeom>
          <a:solidFill>
            <a:srgbClr val="004D40">
              <a:alpha val="5000"/>
            </a:srgbClr>
          </a:solidFill>
          <a:ln cap="flat" cmpd="sng">
            <a:solidFill>
              <a:srgbClr val="00342B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11200" y="2590800"/>
            <a:ext cx="50800" cy="2438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65200" y="26924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强势方 (销售)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65200" y="3200400"/>
            <a:ext cx="4826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掌握市场信息,为保业绩倾向于</a:t>
            </a: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乐观预测、频繁更改需求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65200" y="41402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通常</a:t>
            </a:r>
            <a:r>
              <a:rPr lang="en-US" sz="14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不承担库存风险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73800" y="2590800"/>
            <a:ext cx="5207000" cy="2438400"/>
          </a:xfrm>
          <a:prstGeom prst="roundRect">
            <a:avLst>
              <a:gd name="adj" fmla="val 0"/>
            </a:avLst>
          </a:prstGeom>
          <a:solidFill>
            <a:srgbClr val="666666">
              <a:alpha val="6000"/>
            </a:srgbClr>
          </a:solidFill>
          <a:ln cap="flat" cmpd="sng">
            <a:solidFill>
              <a:srgbClr val="4D4545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73800" y="2590800"/>
            <a:ext cx="50800" cy="2438400"/>
          </a:xfrm>
          <a:prstGeom prst="roundRect">
            <a:avLst>
              <a:gd name="adj" fmla="val 0"/>
            </a:avLst>
          </a:prstGeom>
          <a:solidFill>
            <a:srgbClr val="666666">
              <a:alpha val="100000"/>
            </a:srgbClr>
          </a:solidFill>
          <a:ln cap="flat" cmpd="sng">
            <a:solidFill>
              <a:srgbClr val="4D454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27800" y="2692400"/>
            <a:ext cx="482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弱势方 (供应链)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27800" y="3200400"/>
            <a:ext cx="4826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9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信息滞后,被动承接需求,最终承担</a:t>
            </a:r>
            <a:r>
              <a:rPr lang="en-US" sz="14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呆滞库存、紧急采购、加班救火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等所有风险。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" y="5308600"/>
            <a:ext cx="10769600" cy="1168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65200" y="53594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607227" y="5359400"/>
            <a:ext cx="8771973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700" b="0" i="0" u="none" strike="noStrike">
                <a:solidFill>
                  <a:srgbClr val="FFFFFF">
                    <a:alpha val="92157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前端预测越随意,后端供应链承担的风险就越大。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61798" y="358169"/>
            <a:ext cx="14224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algn="l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769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</a:t>
            </a:r>
            <a:r>
              <a:rPr lang="zh-CN" altLang="en-US" sz="3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</a:t>
            </a:r>
            <a:r>
              <a:rPr lang="en-US" sz="3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:需求预测怎么做——从数据开始,由判断结束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11200" y="1422400"/>
            <a:ext cx="50800" cy="1524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65200" y="14224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从数据开始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65200" y="1930400"/>
            <a:ext cx="4826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以历史发货、出货记录等客观数据作为预测的基础基线,避免纯主观拍脑袋。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99200" y="1422400"/>
            <a:ext cx="50800" cy="1524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553200" y="1422400"/>
            <a:ext cx="49276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由判断结束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553200" y="1930400"/>
            <a:ext cx="49276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在数据基线之上叠加业务判断:包含促销活动、新品上市、客户重大项目、市场行情变化等。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11200" y="3073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数据与判断的权重配比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3581400"/>
            <a:ext cx="5232400" cy="1498600"/>
          </a:xfrm>
          <a:prstGeom prst="roundRect">
            <a:avLst>
              <a:gd name="adj" fmla="val 0"/>
            </a:avLst>
          </a:prstGeom>
          <a:solidFill>
            <a:srgbClr val="F0F5F4">
              <a:alpha val="100000"/>
            </a:srgbClr>
          </a:solidFill>
          <a:ln cap="flat" cmpd="sng">
            <a:solidFill>
              <a:srgbClr val="C1DCD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11200" y="3581400"/>
            <a:ext cx="50800" cy="14986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65200" y="36576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标准化成熟产品、需求可重复性高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65200" y="4089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权重倾向:</a:t>
            </a: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数据占比更高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48400" y="3581400"/>
            <a:ext cx="5232400" cy="1498600"/>
          </a:xfrm>
          <a:prstGeom prst="roundRect">
            <a:avLst>
              <a:gd name="adj" fmla="val 0"/>
            </a:avLst>
          </a:prstGeom>
          <a:solidFill>
            <a:srgbClr val="F0F5F4">
              <a:alpha val="100000"/>
            </a:srgbClr>
          </a:solidFill>
          <a:ln cap="flat" cmpd="sng">
            <a:solidFill>
              <a:srgbClr val="C1DCD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48400" y="3581400"/>
            <a:ext cx="50800" cy="14986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02400" y="36576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新品、促销品、长周期物料、需求波动大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02400" y="4089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权重倾向:</a:t>
            </a: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业务判断占比更高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" y="5486400"/>
            <a:ext cx="10769600" cy="9144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65200" y="5486400"/>
            <a:ext cx="1524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5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要点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540000" y="5486400"/>
            <a:ext cx="87376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数据给基线,判断做修正,二者缺一不可。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2"/>
          <p:cNvSpPr/>
          <p:nvPr/>
        </p:nvSpPr>
        <p:spPr>
          <a:xfrm>
            <a:off x="711200" y="457200"/>
            <a:ext cx="10769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案例剖析：新品滞销的根源</a:t>
            </a:r>
            <a:endParaRPr lang="en-US" sz="1100"/>
          </a:p>
        </p:txBody>
      </p:sp>
      <p:sp>
        <p:nvSpPr>
          <p:cNvPr id="5" name="AutoShape 3"/>
          <p:cNvSpPr/>
          <p:nvPr/>
        </p:nvSpPr>
        <p:spPr>
          <a:xfrm>
            <a:off x="1219200" y="1250043"/>
            <a:ext cx="9652000" cy="103595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📈  案例场景：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新品上市初期市场热度高，销售/运营将短期爆发热度当成可持续真实需求，短期内频繁多次追加预测、紧急下单。等大批量物料/成品到货后，市场热度快速回落，最终导致新品大批量滞销。</a:t>
            </a:r>
            <a:endParaRPr lang="en-US" sz="1100"/>
          </a:p>
        </p:txBody>
      </p:sp>
      <p:sp>
        <p:nvSpPr>
          <p:cNvPr id="6" name="AutoShape 4"/>
          <p:cNvSpPr/>
          <p:nvPr/>
        </p:nvSpPr>
        <p:spPr>
          <a:xfrm>
            <a:off x="1219200" y="2413000"/>
            <a:ext cx="965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📖  </a:t>
            </a: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定性：混淆了「销售欲望/短期热度」与「真实需求预测」</a:t>
            </a:r>
            <a:endParaRPr lang="en-US" sz="1800"/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销售目标：想卖更多、冲业绩、凭短期行情乐观放大需求（感性、激励性）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需求预测：判断未来真实可落地的销量（理性、数据+业务判断）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5"/>
          <p:cNvSpPr/>
          <p:nvPr/>
        </p:nvSpPr>
        <p:spPr>
          <a:xfrm>
            <a:off x="1219200" y="3810000"/>
            <a:ext cx="965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</a:t>
            </a: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根源分析：</a:t>
            </a:r>
            <a:endParaRPr lang="en-US" sz="1800"/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新品属于典型“战时需求”，本应谨慎、分批、保守预测，团队却反向操作，预判激进。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完全放弃“始于数据”，仅凭短期流量、咨询量做判断，预测失真。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风险单向转移：销售激进预测不用担责，供应链兜底承担滞销库存风险。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6"/>
          <p:cNvSpPr/>
          <p:nvPr/>
        </p:nvSpPr>
        <p:spPr>
          <a:xfrm>
            <a:off x="1219200" y="5080000"/>
            <a:ext cx="965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</a:t>
            </a:r>
            <a:r>
              <a:rPr lang="en-US" sz="1800" b="1" i="0" u="none" strike="noStrike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解决方案：</a:t>
            </a:r>
            <a:endParaRPr lang="en-US" sz="1100"/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区分「短期热度」和「真实需求」：禁止用咨询量、意向单直接放大做预测。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新品战时策略：小步快跑、分批预判、拒绝一次性重仓。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严格执行「从数据开始，由判断结束」：只采信真实成交数据，并预判拐点风险。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建立预测风险共担：约束前端随意加单、乐观预估的行为。</a:t>
            </a:r>
            <a:endParaRPr lang="en-US" sz="13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572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>
                <a:solidFill>
                  <a:srgbClr val="004D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思考&amp;疑问</a:t>
            </a:r>
            <a:endParaRPr lang="en-US" sz="1100"/>
          </a:p>
        </p:txBody>
      </p:sp>
      <p:sp>
        <p:nvSpPr>
          <p:cNvPr id="36" name="AutoShape 15"/>
          <p:cNvSpPr/>
          <p:nvPr/>
        </p:nvSpPr>
        <p:spPr>
          <a:xfrm flipH="1">
            <a:off x="3645535" y="431800"/>
            <a:ext cx="83820" cy="661035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cap="flat" cmpd="sng">
            <a:solidFill>
              <a:srgbClr val="0034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文本框 36"/>
          <p:cNvSpPr txBox="1"/>
          <p:nvPr/>
        </p:nvSpPr>
        <p:spPr>
          <a:xfrm>
            <a:off x="1113790" y="1950085"/>
            <a:ext cx="9210040" cy="800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ym typeface="+mn-ea"/>
              </a:rPr>
              <a:t>公司的预测风险是如何分配的？是否存在弱势一方兜底的情况？</a:t>
            </a:r>
            <a:endParaRPr lang="zh-CN" altLang="en-US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2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3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4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5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6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7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8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9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10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11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12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13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14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15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16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17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18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19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ags/tag20.xml><?xml version="1.0" encoding="utf-8"?>
<p:tagLst xmlns:p="http://schemas.openxmlformats.org/presentationml/2006/main">
  <p:tag name="KSO_WM_DIAGRAM_VIRTUALLY_FRAME" val="{&quot;height&quot;:340,&quot;left&quot;:56,&quot;top&quot;:150,&quot;width&quot;:84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1482</Words>
  <Application>WPS 演示</Application>
  <PresentationFormat/>
  <Paragraphs>165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Arial</vt:lpstr>
      <vt:lpstr>Noto Sans SC</vt:lpstr>
      <vt:lpstr>黑体</vt:lpstr>
      <vt:lpstr>DejaVu Math TeX Gyre</vt:lpstr>
      <vt:lpstr>Cambria Math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谢水兰</cp:lastModifiedBy>
  <cp:revision>8</cp:revision>
  <dcterms:created xsi:type="dcterms:W3CDTF">2026-08-06T03:46:00Z</dcterms:created>
  <dcterms:modified xsi:type="dcterms:W3CDTF">2026-08-06T15:03:37Z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{"Label":"1","ContentProducer":"001191110102MACQD9K64010000","ProduceID":"7670728023310617815","ReservedCode1":"","ContentPropagator":"","PropagateID":"","ReservedCode2":""}</vt:lpwstr>
  </property>
  <property fmtid="{D5CDD505-2E9C-101B-9397-08002B2CF9AE}" pid="3" name="ICV">
    <vt:lpwstr>2983D22653984E8E91B01E34D842659A_12</vt:lpwstr>
  </property>
  <property fmtid="{D5CDD505-2E9C-101B-9397-08002B2CF9AE}" pid="4" name="KSOProductBuildVer">
    <vt:lpwstr>2052-12.1.0.28043</vt:lpwstr>
  </property>
</Properties>
</file>